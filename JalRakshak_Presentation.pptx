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💧  JalRakshak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E3045"/>
          </a:solidFill>
          <a:ln w="12700">
            <a:solidFill>
              <a:srgbClr val="00B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Competition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E5D0"/>
                </a:solidFill>
                <a:latin typeface="Calibri"/>
              </a:defRPr>
            </a:pPr>
            <a:r>
              <a:t>C I V I C   W A T E R   Q U A L I T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Calibri"/>
              </a:rPr>
              <a:t>Jal</a:t>
            </a:r>
            <a:r>
              <a:rPr sz="6400" b="1">
                <a:solidFill>
                  <a:srgbClr val="00E5D0"/>
                </a:solidFill>
                <a:latin typeface="Calibri"/>
              </a:rPr>
              <a:t>Rakshak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CC9"/>
                </a:solidFill>
                <a:latin typeface="Calibri"/>
              </a:defRPr>
            </a:pPr>
            <a:r>
              <a:t>A civic-tech feedback loop for reporting local</a:t>
            </a:r>
            <a:br/>
            <a:r>
              <a:t>water concerns and tracking follow-through.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389120"/>
            <a:ext cx="731520" cy="38100"/>
          </a:xfrm>
          <a:prstGeom prst="rect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0" y="1828800"/>
            <a:ext cx="4114800" cy="25603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011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0">
                <a:solidFill>
                  <a:srgbClr val="00E5D0"/>
                </a:solidFill>
                <a:latin typeface="Calibri"/>
              </a:defRPr>
            </a:pPr>
            <a:r>
              <a:t>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 clearer civic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Local reporting, area visibility, and status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A9A"/>
                </a:solidFill>
                <a:latin typeface="Calibri"/>
              </a:defRPr>
            </a:pPr>
            <a:r>
              <a:t>with location and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A9A"/>
                </a:solidFill>
                <a:latin typeface="Calibri"/>
              </a:defRPr>
            </a:pPr>
            <a:r>
              <a:t>to a shared area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A9A"/>
                </a:solidFill>
                <a:latin typeface="Calibri"/>
              </a:defRPr>
            </a:pPr>
            <a:r>
              <a:t>visible status updates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JalRakshak · SDG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💧  JalRakshak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E3045"/>
          </a:solidFill>
          <a:ln w="12700">
            <a:solidFill>
              <a:srgbClr val="00B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E5D0"/>
                </a:solidFill>
                <a:latin typeface="Calibri"/>
              </a:defRPr>
            </a:pPr>
            <a:r>
              <a:t>THE WATER CRISIS IS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Why </a:t>
            </a:r>
            <a:r>
              <a:rPr sz="4000" b="1">
                <a:solidFill>
                  <a:srgbClr val="00E5D0"/>
                </a:solidFill>
                <a:latin typeface="Calibri"/>
              </a:rPr>
              <a:t>This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E5D0"/>
                </a:solidFill>
                <a:latin typeface="Calibri"/>
              </a:defRPr>
            </a:pPr>
            <a:r>
              <a:t>780M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People lack clean</a:t>
            </a:r>
            <a:br/>
            <a:r>
              <a:t>water access globally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74320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9718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63946"/>
                </a:solidFill>
                <a:latin typeface="Calibri"/>
              </a:defRPr>
            </a:pPr>
            <a:r>
              <a:t>2M+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749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Deaths annually from</a:t>
            </a:r>
            <a:br/>
            <a:r>
              <a:t>waterborne diseases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4320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9718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8500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749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Of India's water</a:t>
            </a:r>
            <a:br/>
            <a:r>
              <a:t>sources contaminated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74320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9718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D600"/>
                </a:solidFill>
                <a:latin typeface="Calibri"/>
              </a:defRPr>
            </a:pPr>
            <a:r>
              <a:t>48 hrs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749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Average delay in</a:t>
            </a:r>
            <a:br/>
            <a:r>
              <a:t>complaint resolution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54880"/>
            <a:ext cx="10972800" cy="1188720"/>
          </a:xfrm>
          <a:prstGeom prst="roundRect">
            <a:avLst>
              <a:gd name="adj" fmla="val 5000"/>
            </a:avLst>
          </a:prstGeom>
          <a:solidFill>
            <a:srgbClr val="0F1A28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0BCC9"/>
                </a:solidFill>
                <a:latin typeface="Calibri"/>
              </a:defRPr>
            </a:pPr>
            <a:r>
              <a:t>Citizens have no fast, transparent way to report water problems.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B0BCC9"/>
                </a:solidFill>
                <a:latin typeface="Calibri"/>
              </a:defRPr>
            </a:pPr>
            <a:r>
              <a:t>Authorities have no unified system to prioritize and act.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Result: Delayed action → Health risks → Lost community trust.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JalRakshak · SDG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💧  JalRakshak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E3045"/>
          </a:solidFill>
          <a:ln w="12700">
            <a:solidFill>
              <a:srgbClr val="00B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E5D0"/>
                </a:solidFill>
                <a:latin typeface="Calibri"/>
              </a:defRPr>
            </a:pPr>
            <a:r>
              <a:t>O N E   P L A T F O R M ,   C O M P L E T E   S O L U T I 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What is </a:t>
            </a:r>
            <a:r>
              <a:rPr sz="3800" b="1">
                <a:solidFill>
                  <a:srgbClr val="00E5D0"/>
                </a:solidFill>
                <a:latin typeface="Calibri"/>
              </a:rPr>
              <a:t>JalRakshak?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CC9"/>
                </a:solidFill>
                <a:latin typeface="Calibri"/>
              </a:defRPr>
            </a:pPr>
            <a:r>
              <a:t>A smart civic platform that empowers citizens to report, track, and resolve water issues</a:t>
            </a:r>
            <a:br/>
            <a:r>
              <a:t>while giving authorities intelligent tools to prioritize and act faster.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E5D0"/>
                </a:solidFill>
                <a:latin typeface="Calibri"/>
              </a:defRPr>
            </a:pPr>
            <a:r>
              <a:t>👥  For Citizens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📝  Report water issues with photos &amp; 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16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🗺️  View issue heatmap across the 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640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📍  Track complaint status in real-time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114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🚨  Receive community safety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58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⭐  Rate resolution quality via feedback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832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520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E5D0"/>
                </a:solidFill>
                <a:latin typeface="Calibri"/>
              </a:defRPr>
            </a:pPr>
            <a:r>
              <a:t>🏛️  For Authorities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📊  Live analytics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16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🚦  Smart priority engine (auto-severity)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7640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⚡  Complaint lifecycle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1114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🗂️  Area-wise risk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458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📈  Trend analysis &amp; reports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JalRakshak · SDG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💧  JalRakshak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E3045"/>
          </a:solidFill>
          <a:ln w="12700">
            <a:solidFill>
              <a:srgbClr val="00B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E5D0"/>
                </a:solidFill>
                <a:latin typeface="Calibri"/>
              </a:defRPr>
            </a:pPr>
            <a:r>
              <a:t>S M A R T   F E A T U R 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Features That </a:t>
            </a:r>
            <a:r>
              <a:rPr sz="3600" b="1">
                <a:solidFill>
                  <a:srgbClr val="00E5D0"/>
                </a:solidFill>
                <a:latin typeface="Calibri"/>
              </a:rPr>
              <a:t>Set Us Apart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E5D0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Smart Priority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Auto-calculates severity based on issue type, area load, image evidence &amp; urgency. Scores 0-100 map to Low/Medium/High/Critical.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6032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788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E5D0"/>
                </a:solidFill>
                <a:latin typeface="Calibri"/>
              </a:defRPr>
            </a:pPr>
            <a:r>
              <a:t>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Community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94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Auto-generated safety warnings when areas become risky. Citizens get notified to boil water, avoid direct drinking, or take precautions.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E5D0"/>
                </a:solidFill>
                <a:latin typeface="Calibri"/>
              </a:defRPr>
            </a:pPr>
            <a:r>
              <a:t>🗺️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Interactive Issue Heatmap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Color-coded map markers give instant visual overview. Red=Critical, Orange=High, Yellow=Medium, Green=Resolved.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57200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800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E5D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349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Live Analytics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8064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Real-time stats: total complaints, resolution rate, top affected areas, category breakdown, weekly trends, response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JalRakshak · SDG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💧  JalRakshak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E3045"/>
          </a:solidFill>
          <a:ln w="12700">
            <a:solidFill>
              <a:srgbClr val="00B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Premium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E5D0"/>
                </a:solidFill>
                <a:latin typeface="Calibri"/>
              </a:defRPr>
            </a:pPr>
            <a:r>
              <a:t>P R E M I U M   F E A T U R 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Built for </a:t>
            </a:r>
            <a:r>
              <a:rPr sz="3600" b="1">
                <a:solidFill>
                  <a:srgbClr val="00E5D0"/>
                </a:solidFill>
                <a:latin typeface="Calibri"/>
              </a:rPr>
              <a:t>Real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E5D0"/>
                </a:solidFill>
                <a:latin typeface="Calibri"/>
              </a:defRPr>
            </a:pPr>
            <a:r>
              <a:t>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Area Water Safety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Each area gets a dynamic safety score: 90-100=Safe, 70-89=Moderate, 40-69=Risky, 0-39=Unsafe. Based on complaint volume and severity.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6032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788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E5D0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Complaint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94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Like parcel tracking: Submitted → Under Review → Assigned → In Progress → Resolved. Full transparency for every complaint.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E5D0"/>
                </a:solidFill>
                <a:latin typeface="Calibri"/>
              </a:defRPr>
            </a:pPr>
            <a:r>
              <a:t>🖼️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Before/After 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Admins upload resolved images alongside original complaint photos. Visual proof of action taken and problems fixed.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57200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800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00E5D0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349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SDG Impact Counter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8064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Homepage displays live metrics: Complaints Resolved, Areas Improved, Citizens Helped, Risk Alerts Issued. Shows real-world impact.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JalRakshak · SDG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💧  JalRakshak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E3045"/>
          </a:solidFill>
          <a:ln w="12700">
            <a:solidFill>
              <a:srgbClr val="00B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E5D0"/>
                </a:solidFill>
                <a:latin typeface="Calibri"/>
              </a:defRPr>
            </a:pPr>
            <a:r>
              <a:t>E N D - T O - E N D   W O R K F L O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Complete </a:t>
            </a:r>
            <a:r>
              <a:rPr sz="3600" b="1">
                <a:solidFill>
                  <a:srgbClr val="00E5D0"/>
                </a:solidFill>
                <a:latin typeface="Calibri"/>
              </a:rPr>
              <a:t>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3474720" cy="11887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Citizen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71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CC9"/>
                </a:solidFill>
                <a:latin typeface="Calibri"/>
              </a:defRPr>
            </a:pPr>
            <a:r>
              <a:t>Submit issue with category,</a:t>
            </a:r>
            <a:br/>
            <a:r>
              <a:t>photo, GPS 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68880"/>
            <a:ext cx="3474720" cy="11887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Priority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971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CC9"/>
                </a:solidFill>
                <a:latin typeface="Calibri"/>
              </a:defRPr>
            </a:pPr>
            <a:r>
              <a:t>Auto-scores severity &amp;</a:t>
            </a:r>
            <a:br/>
            <a:r>
              <a:t>assigns priority level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468880"/>
            <a:ext cx="3474720" cy="11887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Admin Receives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971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CC9"/>
                </a:solidFill>
                <a:latin typeface="Calibri"/>
              </a:defRPr>
            </a:pPr>
            <a:r>
              <a:t>Prioritized complaints</a:t>
            </a:r>
            <a:br/>
            <a:r>
              <a:t>on admin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3474720" cy="11887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Status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34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CC9"/>
                </a:solidFill>
                <a:latin typeface="Calibri"/>
              </a:defRPr>
            </a:pPr>
            <a:r>
              <a:t>Admin assigns, reviews,</a:t>
            </a:r>
            <a:br/>
            <a:r>
              <a:t>updates progress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931920"/>
            <a:ext cx="3474720" cy="11887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Community 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434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CC9"/>
                </a:solidFill>
                <a:latin typeface="Calibri"/>
              </a:defRPr>
            </a:pPr>
            <a:r>
              <a:t>Auto-alert if area</a:t>
            </a:r>
            <a:br/>
            <a:r>
              <a:t>becomes risky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931920"/>
            <a:ext cx="3474720" cy="11887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434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CC9"/>
                </a:solidFill>
                <a:latin typeface="Calibri"/>
              </a:defRPr>
            </a:pPr>
            <a:r>
              <a:t>Complaint resolved with</a:t>
            </a:r>
            <a:br/>
            <a:r>
              <a:t>before/after photos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94960"/>
            <a:ext cx="3474720" cy="11887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532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532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Citizen Tracks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897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CC9"/>
                </a:solidFill>
                <a:latin typeface="Calibri"/>
              </a:defRPr>
            </a:pPr>
            <a:r>
              <a:t>Real-time timeline</a:t>
            </a:r>
            <a:br/>
            <a:r>
              <a:t>like parcel tracking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5394960"/>
            <a:ext cx="3474720" cy="11887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5532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5532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Feedback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897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CC9"/>
                </a:solidFill>
                <a:latin typeface="Calibri"/>
              </a:defRPr>
            </a:pPr>
            <a:r>
              <a:t>Citizen rates the</a:t>
            </a:r>
            <a:br/>
            <a:r>
              <a:t>resolution quality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5394960"/>
            <a:ext cx="3474720" cy="11887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5532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5532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5897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CC9"/>
                </a:solidFill>
                <a:latin typeface="Calibri"/>
              </a:defRPr>
            </a:pPr>
            <a:r>
              <a:t>Dashboard updates with</a:t>
            </a:r>
            <a:br/>
            <a:r>
              <a:t>new trends &amp; 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JalRakshak · SDG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💧  JalRakshak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E3045"/>
          </a:solidFill>
          <a:ln w="12700">
            <a:solidFill>
              <a:srgbClr val="00B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E5D0"/>
                </a:solidFill>
                <a:latin typeface="Calibri"/>
              </a:defRPr>
            </a:pPr>
            <a:r>
              <a:t>P R O D U C T I O N - G R A D E   T E C H N O L O G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Built With </a:t>
            </a:r>
            <a:r>
              <a:rPr sz="3600" b="1">
                <a:solidFill>
                  <a:srgbClr val="00E5D0"/>
                </a:solidFill>
                <a:latin typeface="Calibri"/>
              </a:rPr>
              <a:t>Modern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E5D0"/>
                </a:solidFill>
                <a:latin typeface="Calibri"/>
              </a:defRPr>
            </a:pPr>
            <a:r>
              <a:t>⚛️  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63240"/>
            <a:ext cx="914400" cy="38100"/>
          </a:xfrm>
          <a:prstGeom prst="rect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React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TypeScript 5.9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Vite (build)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Tailwind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262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Shadcn/UI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Recharts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Leaflet.js (maps)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46888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E5D0"/>
                </a:solidFill>
                <a:latin typeface="Calibri"/>
              </a:defRPr>
            </a:pPr>
            <a:r>
              <a:t>⚙️  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063240"/>
            <a:ext cx="914400" cy="38100"/>
          </a:xfrm>
          <a:prstGeom prst="rect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Node.js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566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Express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886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TypeScript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JWT Authentication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5262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OpenAPI 3.1 Spec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46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Orval (codegen)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1663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esbuild (bundle)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46888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E5D0"/>
                </a:solidFill>
                <a:latin typeface="Calibri"/>
              </a:defRPr>
            </a:pPr>
            <a:r>
              <a:t>🗄️  Database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3063240"/>
            <a:ext cx="914400" cy="38100"/>
          </a:xfrm>
          <a:prstGeom prst="rect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566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Drizzle 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886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Zod v4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drizzle-zod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5262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6 Tables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846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Full CRUD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1663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C9"/>
                </a:solidFill>
                <a:latin typeface="Calibri"/>
              </a:defRPr>
            </a:pPr>
            <a:r>
              <a:t>›  Type-safe queries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06440"/>
            <a:ext cx="10972800" cy="457200"/>
          </a:xfrm>
          <a:prstGeom prst="roundRect">
            <a:avLst>
              <a:gd name="adj" fmla="val 5000"/>
            </a:avLst>
          </a:prstGeom>
          <a:solidFill>
            <a:srgbClr val="0F1A28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8338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E5D0"/>
                </a:solidFill>
                <a:latin typeface="Calibri"/>
              </a:defRPr>
            </a:pPr>
            <a:r>
              <a:t>Monorepo: pnpm workspaces  ·  Type-safe end-to-end  ·  OpenAPI code generation  ·  Hot reload DX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JalRakshak · SDG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💧  JalRakshak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E3045"/>
          </a:solidFill>
          <a:ln w="12700">
            <a:solidFill>
              <a:srgbClr val="00B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E5D0"/>
                </a:solidFill>
                <a:latin typeface="Calibri"/>
              </a:defRPr>
            </a:pPr>
            <a:r>
              <a:t>O U R   I N N O V A T I 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Smart Priority </a:t>
            </a:r>
            <a:r>
              <a:rPr sz="3600" b="1">
                <a:solidFill>
                  <a:srgbClr val="00E5D0"/>
                </a:solidFill>
                <a:latin typeface="Calibri"/>
              </a:rPr>
              <a:t>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E5D0"/>
                </a:solidFill>
                <a:latin typeface="Calibri"/>
              </a:defRPr>
            </a:pPr>
            <a:r>
              <a:t>Base Severity Scores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63240"/>
            <a:ext cx="914400" cy="38100"/>
          </a:xfrm>
          <a:prstGeom prst="rect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Contamination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46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3872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Sewage Mixing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5387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3133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Drainage Overflow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8313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239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Dirty Water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123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16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No Water Supply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416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Tanker Issue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01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Broken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001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943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Leakage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294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2468880"/>
            <a:ext cx="5943600" cy="164592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606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E5D0"/>
                </a:solidFill>
                <a:latin typeface="Calibri"/>
              </a:defRPr>
            </a:pPr>
            <a:r>
              <a:t>Score Modifiers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3063240"/>
            <a:ext cx="914400" cy="38100"/>
          </a:xfrm>
          <a:prstGeom prst="rect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32004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📸  Image attached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DC653"/>
                </a:solidFill>
                <a:latin typeface="Calibri"/>
              </a:defRPr>
            </a:pPr>
            <a:r>
              <a:t>+10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4472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🚰  Drinking water issue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4472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DC653"/>
                </a:solidFill>
                <a:latin typeface="Calibri"/>
              </a:defRPr>
            </a:pPr>
            <a:r>
              <a:t>+15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36941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⚡  High urgency reported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694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DC653"/>
                </a:solidFill>
                <a:latin typeface="Calibri"/>
              </a:defRPr>
            </a:pPr>
            <a:r>
              <a:t>+10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394106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📊  5+ complaints in area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941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DC653"/>
                </a:solidFill>
                <a:latin typeface="Calibri"/>
              </a:defRPr>
            </a:pPr>
            <a:r>
              <a:t>+20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4297680"/>
            <a:ext cx="5943600" cy="91440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4434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0-24: 🟢 Low    25-49: 🟡 Medium    50-74: 🟠 High    75+: 🔴 Critical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0" y="5394960"/>
            <a:ext cx="5943600" cy="640080"/>
          </a:xfrm>
          <a:prstGeom prst="roundRect">
            <a:avLst>
              <a:gd name="adj" fmla="val 5000"/>
            </a:avLst>
          </a:prstGeom>
          <a:solidFill>
            <a:srgbClr val="0F1A28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5440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5D0"/>
                </a:solidFill>
                <a:latin typeface="Calibri"/>
              </a:defRPr>
            </a:pPr>
            <a:r>
              <a:t>Example: Sewage(50) + Drinking(+15) + Image(+10) + Area(+20) = 95 → CRITICAL 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JalRakshak · SDG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💧  JalRakshak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E3045"/>
          </a:solidFill>
          <a:ln w="12700">
            <a:solidFill>
              <a:srgbClr val="00B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SDG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E5D0"/>
                </a:solidFill>
                <a:latin typeface="Calibri"/>
              </a:defRPr>
            </a:pPr>
            <a:r>
              <a:t>U N I T E D   N A T I O N S   S D G 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Clean Water &amp; </a:t>
            </a:r>
            <a:r>
              <a:rPr sz="3600" b="1">
                <a:solidFill>
                  <a:srgbClr val="00E5D0"/>
                </a:solidFill>
                <a:latin typeface="Calibri"/>
              </a:rPr>
              <a:t>Sanitation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E5D0"/>
                </a:solidFill>
                <a:latin typeface="Calibri"/>
              </a:defRPr>
            </a:pPr>
            <a:r>
              <a:t>Target 6.1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Safe Water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520440"/>
            <a:ext cx="548640" cy="38100"/>
          </a:xfrm>
          <a:prstGeom prst="rect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Enables rapid reporting of contaminated water sources for faster remediation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56032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E5D0"/>
                </a:solidFill>
                <a:latin typeface="Calibri"/>
              </a:defRPr>
            </a:pPr>
            <a:r>
              <a:t>Target 6.3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Water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3520440"/>
            <a:ext cx="548640" cy="38100"/>
          </a:xfrm>
          <a:prstGeom prst="rect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703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Tracks pollution complaints with evidence and enables timely authority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56032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2697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E5D0"/>
                </a:solidFill>
                <a:latin typeface="Calibri"/>
              </a:defRPr>
            </a:pPr>
            <a:r>
              <a:t>Target 6.4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Water Efficiency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59" y="3520440"/>
            <a:ext cx="548640" cy="38100"/>
          </a:xfrm>
          <a:prstGeom prst="rect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3703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Identifies leakage and wastage issues through citizen reports and area monitoring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256032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19" y="2697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E5D0"/>
                </a:solidFill>
                <a:latin typeface="Calibri"/>
              </a:defRPr>
            </a:pPr>
            <a:r>
              <a:t>Target 6.b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Community Participation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19" y="3520440"/>
            <a:ext cx="548640" cy="38100"/>
          </a:xfrm>
          <a:prstGeom prst="rect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3703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Empowers local communities with alerts, feedback, transparency, and accountability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064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0F1A28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E5D0"/>
                </a:solidFill>
                <a:latin typeface="Calibri"/>
              </a:defRPr>
            </a:pPr>
            <a:r>
              <a:t>"JalRakshak creates a practical digital system for faster reporting, visibility,</a:t>
            </a:r>
            <a:br/>
            <a:r>
              <a:t>and action — supporting cleaner water and safer communities."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JalRakshak · SDG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💧  JalRakshak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E3045"/>
          </a:solidFill>
          <a:ln w="12700">
            <a:solidFill>
              <a:srgbClr val="00B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E5D0"/>
                </a:solidFill>
                <a:latin typeface="Calibri"/>
              </a:defRPr>
            </a:pPr>
            <a:r>
              <a:t>W H O   U S E S   I 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Built for </a:t>
            </a:r>
            <a:r>
              <a:rPr sz="3600" b="1">
                <a:solidFill>
                  <a:srgbClr val="00E5D0"/>
                </a:solidFill>
                <a:latin typeface="Calibri"/>
              </a:rPr>
              <a:t>Everyone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E5D0"/>
                </a:solidFill>
                <a:latin typeface="Calibri"/>
              </a:defRPr>
            </a:pPr>
            <a:r>
              <a:t>👨‍👩‍👧‍👦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06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Citizens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17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Report water issues, track</a:t>
            </a:r>
            <a:br/>
            <a:r>
              <a:t>resolution, receive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6888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E5D0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606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Municipal Authorities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017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Manage complaints, prioritize</a:t>
            </a:r>
            <a:br/>
            <a:r>
              <a:t>action, publish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46888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E5D0"/>
                </a:solidFill>
                <a:latin typeface="Calibri"/>
              </a:defRPr>
            </a:pPr>
            <a:r>
              <a:t>🏘️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606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Housing Societies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017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Monitor water quality for</a:t>
            </a:r>
            <a:br/>
            <a:r>
              <a:t>their locality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E5D0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Students &amp; Volunteers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663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Community awareness and</a:t>
            </a:r>
            <a:br/>
            <a:r>
              <a:t>reporting campaigns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11480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E5D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Policy Makers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6634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0BCC9"/>
                </a:solidFill>
                <a:latin typeface="Calibri"/>
              </a:defRPr>
            </a:pPr>
            <a:r>
              <a:t>Data-driven decisions using</a:t>
            </a:r>
            <a:br/>
            <a:r>
              <a:t>analytics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94960"/>
            <a:ext cx="10972800" cy="640080"/>
          </a:xfrm>
          <a:prstGeom prst="roundRect">
            <a:avLst>
              <a:gd name="adj" fmla="val 5000"/>
            </a:avLst>
          </a:prstGeom>
          <a:solidFill>
            <a:srgbClr val="0F1A28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40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Scalability:  Campus  →  Locality  →  Municipal Ward  →  City-Wide Deployment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JalRakshak · SDG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D0"/>
                </a:solidFill>
                <a:latin typeface="Calibri"/>
              </a:defRPr>
            </a:pPr>
            <a:r>
              <a:t>💧  JalRakshak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3200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E3045"/>
          </a:solidFill>
          <a:ln w="12700">
            <a:solidFill>
              <a:srgbClr val="00B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E5D0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E5D0"/>
                </a:solidFill>
                <a:latin typeface="Calibri"/>
              </a:defRPr>
            </a:pPr>
            <a:r>
              <a:t>S E E   I T   I N   A C T I 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Demo </a:t>
            </a:r>
            <a:r>
              <a:rPr sz="3600" b="1">
                <a:solidFill>
                  <a:srgbClr val="00E5D0"/>
                </a:solidFill>
                <a:latin typeface="Calibri"/>
              </a:rPr>
              <a:t>Walkthrough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303520" cy="82296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560320"/>
            <a:ext cx="411480" cy="411480"/>
          </a:xfrm>
          <a:prstGeom prst="ellipse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41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Homepage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CC9"/>
                </a:solidFill>
                <a:latin typeface="Calibri"/>
              </a:defRPr>
            </a:pPr>
            <a:r>
              <a:t>Hero section, SDG counters,</a:t>
            </a:r>
            <a:br/>
            <a:r>
              <a:t>feature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06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5D0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77440"/>
            <a:ext cx="5303520" cy="82296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5080" y="2560320"/>
            <a:ext cx="411480" cy="411480"/>
          </a:xfrm>
          <a:prstGeom prst="ellipse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41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Map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CC9"/>
                </a:solidFill>
                <a:latin typeface="Calibri"/>
              </a:defRPr>
            </a:pPr>
            <a:r>
              <a:t>Complaint heatmap with</a:t>
            </a:r>
            <a:br/>
            <a:r>
              <a:t>color-coded markers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2606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5D0"/>
                </a:solidFill>
                <a:latin typeface="Calibri"/>
              </a:defRPr>
            </a:pPr>
            <a:r>
              <a:t>20s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83280"/>
            <a:ext cx="5303520" cy="82296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566160"/>
            <a:ext cx="411480" cy="411480"/>
          </a:xfrm>
          <a:prstGeom prst="ellipse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41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Report 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CC9"/>
                </a:solidFill>
                <a:latin typeface="Calibri"/>
              </a:defRPr>
            </a:pPr>
            <a:r>
              <a:t>Submit complaint with photo,</a:t>
            </a:r>
            <a:br/>
            <a:r>
              <a:t>location, 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11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5D0"/>
                </a:solidFill>
                <a:latin typeface="Calibri"/>
              </a:defRPr>
            </a:pPr>
            <a:r>
              <a:t>40s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83280"/>
            <a:ext cx="5303520" cy="82296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5080" y="3566160"/>
            <a:ext cx="411480" cy="411480"/>
          </a:xfrm>
          <a:prstGeom prst="ellipse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41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Auto Priority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CC9"/>
                </a:solidFill>
                <a:latin typeface="Calibri"/>
              </a:defRPr>
            </a:pPr>
            <a:r>
              <a:t>Complaint appears with</a:t>
            </a:r>
            <a:br/>
            <a:r>
              <a:t>auto-assigned severity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3611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5D0"/>
                </a:solidFill>
                <a:latin typeface="Calibri"/>
              </a:defRPr>
            </a:pPr>
            <a:r>
              <a:t>15s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89120"/>
            <a:ext cx="5303520" cy="82296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4572000"/>
            <a:ext cx="411480" cy="411480"/>
          </a:xfrm>
          <a:prstGeom prst="ellipse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41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Admin Panel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CC9"/>
                </a:solidFill>
                <a:latin typeface="Calibri"/>
              </a:defRPr>
            </a:pPr>
            <a:r>
              <a:t>Dashboard with analytics,</a:t>
            </a:r>
            <a:br/>
            <a:r>
              <a:t>complaint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617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5D0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389120"/>
            <a:ext cx="5303520" cy="82296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55080" y="4572000"/>
            <a:ext cx="411480" cy="411480"/>
          </a:xfrm>
          <a:prstGeom prst="ellipse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41F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Admin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CC9"/>
                </a:solidFill>
                <a:latin typeface="Calibri"/>
              </a:defRPr>
            </a:pPr>
            <a:r>
              <a:t>Update status, generate alert</a:t>
            </a:r>
            <a:br/>
            <a:r>
              <a:t>for risky area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4617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5D0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94960"/>
            <a:ext cx="5303520" cy="822960"/>
          </a:xfrm>
          <a:prstGeom prst="roundRect">
            <a:avLst>
              <a:gd name="adj" fmla="val 5000"/>
            </a:avLst>
          </a:prstGeom>
          <a:solidFill>
            <a:srgbClr val="121E2E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" y="5577840"/>
            <a:ext cx="411480" cy="411480"/>
          </a:xfrm>
          <a:prstGeom prst="ellipse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41F"/>
                </a:solidFill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Resolution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5806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0BCC9"/>
                </a:solidFill>
                <a:latin typeface="Calibri"/>
              </a:defRPr>
            </a:pPr>
            <a:r>
              <a:t>Timeline update, before/after</a:t>
            </a:r>
            <a:br/>
            <a:r>
              <a:t>images, feedback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56235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E5D0"/>
                </a:solidFill>
                <a:latin typeface="Calibri"/>
              </a:defRPr>
            </a:pPr>
            <a:r>
              <a:t>15s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JalRakshak · SDG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E5D0"/>
                </a:solidFill>
                <a:latin typeface="Calibri"/>
              </a:defRPr>
            </a:pPr>
            <a:r>
              <a:t>C L E A N   W A T E R  ·  S A F E R   C O M M U N I T I E S  ·  F A S T E R   A C T I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554480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Jal</a:t>
            </a:r>
            <a:r>
              <a:rPr sz="7200" b="1">
                <a:solidFill>
                  <a:srgbClr val="00E5D0"/>
                </a:solidFill>
                <a:latin typeface="Calibri"/>
              </a:rPr>
              <a:t>Rakshak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💧  Every drop matters.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📝  Every complaint counts.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🏘️  Every community deserves clean water.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4480560"/>
            <a:ext cx="1554480" cy="38100"/>
          </a:xfrm>
          <a:prstGeom prst="rect">
            <a:avLst/>
          </a:prstGeom>
          <a:solidFill>
            <a:srgbClr val="00E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E5D0"/>
                </a:solidFill>
                <a:latin typeface="Calibri"/>
              </a:defRPr>
            </a:pPr>
            <a:r>
              <a:t>Report. Track. Resolve.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303520"/>
            <a:ext cx="4846320" cy="457200"/>
          </a:xfrm>
          <a:prstGeom prst="roundRect">
            <a:avLst>
              <a:gd name="adj" fmla="val 5000"/>
            </a:avLst>
          </a:prstGeom>
          <a:solidFill>
            <a:srgbClr val="0F1A28"/>
          </a:solidFill>
          <a:ln w="12700">
            <a:solidFill>
              <a:srgbClr val="1E3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53309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E5D0"/>
                </a:solidFill>
                <a:latin typeface="Calibri"/>
              </a:defRPr>
            </a:pPr>
            <a:r>
              <a:t>github.com/AnuragKannojiya/Jal-Rakshak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8521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Thank You 🙏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JalRakshak · SDG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8A9A"/>
                </a:solidFill>
                <a:latin typeface="Calibr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